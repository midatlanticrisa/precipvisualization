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0" r:id="rId3"/>
    <p:sldId id="257" r:id="rId4"/>
    <p:sldId id="258" r:id="rId5"/>
    <p:sldId id="259" r:id="rId6"/>
  </p:sldIdLst>
  <p:sldSz cx="6858000" cy="121888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0"/>
  </p:normalViewPr>
  <p:slideViewPr>
    <p:cSldViewPr snapToGrid="0">
      <p:cViewPr>
        <p:scale>
          <a:sx n="150" d="100"/>
          <a:sy n="150" d="100"/>
        </p:scale>
        <p:origin x="1600" y="-6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4792"/>
            <a:ext cx="5829300" cy="424351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1956"/>
            <a:ext cx="5143500" cy="2942810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374F-7C19-B447-BFA6-FB37BC7EA533}" type="datetimeFigureOut">
              <a:rPr lang="en-US" smtClean="0"/>
              <a:t>11/28/23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0753D-D9DA-E440-8F9E-0ABE70C69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680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374F-7C19-B447-BFA6-FB37BC7EA533}" type="datetimeFigureOut">
              <a:rPr lang="en-US" smtClean="0"/>
              <a:t>11/28/23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0753D-D9DA-E440-8F9E-0ABE70C69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932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8745"/>
            <a:ext cx="5915025" cy="507021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6923"/>
            <a:ext cx="5915025" cy="266630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374F-7C19-B447-BFA6-FB37BC7EA533}" type="datetimeFigureOut">
              <a:rPr lang="en-US" smtClean="0"/>
              <a:t>11/28/23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0753D-D9DA-E440-8F9E-0ABE70C69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008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4711"/>
            <a:ext cx="2914650" cy="773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4711"/>
            <a:ext cx="2914650" cy="773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374F-7C19-B447-BFA6-FB37BC7EA533}" type="datetimeFigureOut">
              <a:rPr lang="en-US" smtClean="0"/>
              <a:t>11/28/23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0753D-D9DA-E440-8F9E-0ABE70C69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79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8945"/>
            <a:ext cx="5915025" cy="23559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7956"/>
            <a:ext cx="2901255" cy="146435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2307"/>
            <a:ext cx="2901255" cy="6548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7956"/>
            <a:ext cx="2915543" cy="146435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2307"/>
            <a:ext cx="2915543" cy="6548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374F-7C19-B447-BFA6-FB37BC7EA533}" type="datetimeFigureOut">
              <a:rPr lang="en-US" smtClean="0"/>
              <a:t>11/28/23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0753D-D9DA-E440-8F9E-0ABE70C69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214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374F-7C19-B447-BFA6-FB37BC7EA533}" type="datetimeFigureOut">
              <a:rPr lang="en-US" smtClean="0"/>
              <a:t>11/28/23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0753D-D9DA-E440-8F9E-0ABE70C69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96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374F-7C19-B447-BFA6-FB37BC7EA533}" type="datetimeFigureOut">
              <a:rPr lang="en-US" smtClean="0"/>
              <a:t>11/28/23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0753D-D9DA-E440-8F9E-0ABE70C69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835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588"/>
            <a:ext cx="2211884" cy="2844059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4968"/>
            <a:ext cx="3471863" cy="8661966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6647"/>
            <a:ext cx="2211884" cy="677439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374F-7C19-B447-BFA6-FB37BC7EA533}" type="datetimeFigureOut">
              <a:rPr lang="en-US" smtClean="0"/>
              <a:t>11/28/23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0753D-D9DA-E440-8F9E-0ABE70C69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75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588"/>
            <a:ext cx="2211884" cy="2844059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4968"/>
            <a:ext cx="3471863" cy="8661966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6647"/>
            <a:ext cx="2211884" cy="677439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374F-7C19-B447-BFA6-FB37BC7EA533}" type="datetimeFigureOut">
              <a:rPr lang="en-US" smtClean="0"/>
              <a:t>11/28/23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0753D-D9DA-E440-8F9E-0ABE70C69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049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374F-7C19-B447-BFA6-FB37BC7EA533}" type="datetimeFigureOut">
              <a:rPr lang="en-US" smtClean="0"/>
              <a:t>11/28/23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0753D-D9DA-E440-8F9E-0ABE70C69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605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8942"/>
            <a:ext cx="1478756" cy="10329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8942"/>
            <a:ext cx="4350544" cy="103294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374F-7C19-B447-BFA6-FB37BC7EA533}" type="datetimeFigureOut">
              <a:rPr lang="en-US" smtClean="0"/>
              <a:t>11/28/23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0753D-D9DA-E440-8F9E-0ABE70C69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523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8945"/>
            <a:ext cx="5915025" cy="2355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4711"/>
            <a:ext cx="5915025" cy="7733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297238"/>
            <a:ext cx="1543050" cy="6489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1374F-7C19-B447-BFA6-FB37BC7EA533}" type="datetimeFigureOut">
              <a:rPr lang="en-US" smtClean="0"/>
              <a:t>11/28/23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297238"/>
            <a:ext cx="2314575" cy="6489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297238"/>
            <a:ext cx="1543050" cy="6489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90753D-D9DA-E440-8F9E-0ABE70C69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052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screenshot&#10;&#10;Description automatically generated">
            <a:extLst>
              <a:ext uri="{FF2B5EF4-FFF2-40B4-BE49-F238E27FC236}">
                <a16:creationId xmlns:a16="http://schemas.microsoft.com/office/drawing/2014/main" id="{AE6CC2C4-1007-011F-8C0F-86B545545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41783"/>
            <a:ext cx="6858000" cy="48437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75D54D-51EC-2306-4A64-1B254507654C}"/>
              </a:ext>
            </a:extLst>
          </p:cNvPr>
          <p:cNvSpPr txBox="1"/>
          <p:nvPr/>
        </p:nvSpPr>
        <p:spPr>
          <a:xfrm>
            <a:off x="3658424" y="6482019"/>
            <a:ext cx="29794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Observation </a:t>
            </a:r>
            <a:r>
              <a:rPr lang="en-US" sz="1000" dirty="0"/>
              <a:t>(historical measurement): a measurement made to gather information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7D43B9-E9AA-C8D0-CCA2-A1EC9D45D8BA}"/>
              </a:ext>
            </a:extLst>
          </p:cNvPr>
          <p:cNvSpPr txBox="1"/>
          <p:nvPr/>
        </p:nvSpPr>
        <p:spPr>
          <a:xfrm>
            <a:off x="927608" y="3081850"/>
            <a:ext cx="45036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/>
              <a:t>High emissions scenario</a:t>
            </a:r>
            <a:r>
              <a:rPr lang="en-US" sz="1000" dirty="0"/>
              <a:t>: fossil fuel emissions continue to rise without any actions to reduce emissions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38C37C-287C-E23D-C154-41B3B096C402}"/>
              </a:ext>
            </a:extLst>
          </p:cNvPr>
          <p:cNvSpPr txBox="1"/>
          <p:nvPr/>
        </p:nvSpPr>
        <p:spPr>
          <a:xfrm>
            <a:off x="927608" y="3398709"/>
            <a:ext cx="43301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/>
              <a:t>Low emissions scenario: </a:t>
            </a:r>
            <a:r>
              <a:rPr lang="en-US" sz="1000" dirty="0"/>
              <a:t>society implements ways to reduce global fossil fuel emissions by 2050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6AF843-5B7E-CB4D-3BCB-5BB640B0AE23}"/>
              </a:ext>
            </a:extLst>
          </p:cNvPr>
          <p:cNvSpPr txBox="1"/>
          <p:nvPr/>
        </p:nvSpPr>
        <p:spPr>
          <a:xfrm>
            <a:off x="927608" y="3752469"/>
            <a:ext cx="35052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/>
              <a:t>Hindcast</a:t>
            </a:r>
            <a:r>
              <a:rPr lang="en-US" sz="1000" dirty="0"/>
              <a:t>: model results for a historical period that are used for comparing model estimates with observations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85E9C8-4983-512D-3420-D7CDCDAE3E6B}"/>
              </a:ext>
            </a:extLst>
          </p:cNvPr>
          <p:cNvSpPr txBox="1"/>
          <p:nvPr/>
        </p:nvSpPr>
        <p:spPr>
          <a:xfrm>
            <a:off x="1193978" y="4786476"/>
            <a:ext cx="18575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/>
              <a:t>Mean</a:t>
            </a:r>
            <a:r>
              <a:rPr lang="en-US" sz="1000" dirty="0"/>
              <a:t> (average): a calculated 'central’ value of a list of numbers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9D9C27-951E-70EE-470A-C49BFF16A6DE}"/>
              </a:ext>
            </a:extLst>
          </p:cNvPr>
          <p:cNvSpPr txBox="1"/>
          <p:nvPr/>
        </p:nvSpPr>
        <p:spPr>
          <a:xfrm>
            <a:off x="4636356" y="4074839"/>
            <a:ext cx="12940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/>
              <a:t>Range</a:t>
            </a:r>
            <a:r>
              <a:rPr lang="en-US" sz="1000" dirty="0"/>
              <a:t>: the difference between two values (for example, the difference between the minimum and maximum values of the model simulation)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6FC94EA-1BFD-58D3-4DBC-7362FEDC719D}"/>
              </a:ext>
            </a:extLst>
          </p:cNvPr>
          <p:cNvCxnSpPr>
            <a:cxnSpLocks/>
          </p:cNvCxnSpPr>
          <p:nvPr/>
        </p:nvCxnSpPr>
        <p:spPr>
          <a:xfrm>
            <a:off x="4499660" y="4546001"/>
            <a:ext cx="13669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B52521F-E7DA-A4AD-2137-987B2C1A221A}"/>
              </a:ext>
            </a:extLst>
          </p:cNvPr>
          <p:cNvCxnSpPr>
            <a:cxnSpLocks/>
          </p:cNvCxnSpPr>
          <p:nvPr/>
        </p:nvCxnSpPr>
        <p:spPr>
          <a:xfrm>
            <a:off x="4492674" y="5035189"/>
            <a:ext cx="13669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84BE6ED-BACE-F3B2-C5A0-28E763C5650B}"/>
              </a:ext>
            </a:extLst>
          </p:cNvPr>
          <p:cNvCxnSpPr>
            <a:cxnSpLocks/>
          </p:cNvCxnSpPr>
          <p:nvPr/>
        </p:nvCxnSpPr>
        <p:spPr>
          <a:xfrm flipH="1" flipV="1">
            <a:off x="4629371" y="4545393"/>
            <a:ext cx="6986" cy="49047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A10A943-37EE-9421-21BD-54FE3FC7CD1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270" t="13155" r="14670"/>
          <a:stretch/>
        </p:blipFill>
        <p:spPr>
          <a:xfrm>
            <a:off x="620614" y="7633544"/>
            <a:ext cx="4148411" cy="36283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2899C58-CFE9-8F03-6574-A0E71EEAF52B}"/>
              </a:ext>
            </a:extLst>
          </p:cNvPr>
          <p:cNvSpPr txBox="1"/>
          <p:nvPr/>
        </p:nvSpPr>
        <p:spPr>
          <a:xfrm rot="16200000">
            <a:off x="-1271802" y="9001086"/>
            <a:ext cx="3073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Heavy rainfall measurement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7D1FC9-D777-2B26-6800-61471D6E955F}"/>
              </a:ext>
            </a:extLst>
          </p:cNvPr>
          <p:cNvSpPr txBox="1"/>
          <p:nvPr/>
        </p:nvSpPr>
        <p:spPr>
          <a:xfrm>
            <a:off x="2428651" y="11174837"/>
            <a:ext cx="650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Time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1534B3-B391-0F83-DF15-D0B4D7633813}"/>
              </a:ext>
            </a:extLst>
          </p:cNvPr>
          <p:cNvSpPr txBox="1"/>
          <p:nvPr/>
        </p:nvSpPr>
        <p:spPr>
          <a:xfrm>
            <a:off x="4827272" y="8461920"/>
            <a:ext cx="9862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/>
              <a:t>Range</a:t>
            </a:r>
            <a:endParaRPr lang="en-US" sz="10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E4A0675-F0E5-2246-D10E-E4CB0574D9EC}"/>
              </a:ext>
            </a:extLst>
          </p:cNvPr>
          <p:cNvCxnSpPr>
            <a:cxnSpLocks/>
          </p:cNvCxnSpPr>
          <p:nvPr/>
        </p:nvCxnSpPr>
        <p:spPr>
          <a:xfrm>
            <a:off x="4692416" y="7736346"/>
            <a:ext cx="152322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88728F0-73FD-D629-30F6-900D1A793E24}"/>
              </a:ext>
            </a:extLst>
          </p:cNvPr>
          <p:cNvCxnSpPr>
            <a:cxnSpLocks/>
          </p:cNvCxnSpPr>
          <p:nvPr/>
        </p:nvCxnSpPr>
        <p:spPr>
          <a:xfrm>
            <a:off x="4700229" y="9679936"/>
            <a:ext cx="13669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9B6E26A-12CF-209A-AF06-70F3B2AFC4B1}"/>
              </a:ext>
            </a:extLst>
          </p:cNvPr>
          <p:cNvCxnSpPr>
            <a:cxnSpLocks/>
          </p:cNvCxnSpPr>
          <p:nvPr/>
        </p:nvCxnSpPr>
        <p:spPr>
          <a:xfrm flipV="1">
            <a:off x="4836926" y="7736346"/>
            <a:ext cx="7812" cy="194359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9201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screenshot&#10;&#10;Description automatically generated">
            <a:extLst>
              <a:ext uri="{FF2B5EF4-FFF2-40B4-BE49-F238E27FC236}">
                <a16:creationId xmlns:a16="http://schemas.microsoft.com/office/drawing/2014/main" id="{1A1545A0-5BF3-7333-95A4-1FD5DCFA3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8525"/>
            <a:ext cx="7772400" cy="54895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6A6706-6737-566A-E5EA-E2DD4CF47156}"/>
              </a:ext>
            </a:extLst>
          </p:cNvPr>
          <p:cNvSpPr txBox="1"/>
          <p:nvPr/>
        </p:nvSpPr>
        <p:spPr>
          <a:xfrm>
            <a:off x="4138357" y="5021821"/>
            <a:ext cx="40700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Observation </a:t>
            </a:r>
            <a:r>
              <a:rPr lang="en-US" sz="1400" dirty="0"/>
              <a:t>(historical measurement): a measurement made to gather information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17346C-9653-3C1E-B59B-F6F8322DD6B0}"/>
              </a:ext>
            </a:extLst>
          </p:cNvPr>
          <p:cNvSpPr txBox="1"/>
          <p:nvPr/>
        </p:nvSpPr>
        <p:spPr>
          <a:xfrm>
            <a:off x="1089329" y="1153809"/>
            <a:ext cx="71190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High emissions scenario</a:t>
            </a:r>
            <a:r>
              <a:rPr lang="en-US" sz="1400" dirty="0"/>
              <a:t>: fossil fuel emissions continue to rise without any actions to reduce emissions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3DA7C9-63EF-578D-2D18-172AE1328551}"/>
              </a:ext>
            </a:extLst>
          </p:cNvPr>
          <p:cNvSpPr txBox="1"/>
          <p:nvPr/>
        </p:nvSpPr>
        <p:spPr>
          <a:xfrm>
            <a:off x="1089328" y="1624777"/>
            <a:ext cx="71190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Low emissions scenario: </a:t>
            </a:r>
            <a:r>
              <a:rPr lang="en-US" sz="1400" dirty="0"/>
              <a:t>society implements ways to reduce global fossil fuel emissions by 2050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78B05A-C701-E001-1560-592340E07175}"/>
              </a:ext>
            </a:extLst>
          </p:cNvPr>
          <p:cNvSpPr txBox="1"/>
          <p:nvPr/>
        </p:nvSpPr>
        <p:spPr>
          <a:xfrm>
            <a:off x="1089327" y="1907599"/>
            <a:ext cx="392275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Hindcast</a:t>
            </a:r>
            <a:r>
              <a:rPr lang="en-US" sz="1400" dirty="0"/>
              <a:t>: model results for a historical period that are used for comparing model estimates with observations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25BCF5-27E6-A54E-EB56-663B5B7902C2}"/>
              </a:ext>
            </a:extLst>
          </p:cNvPr>
          <p:cNvSpPr txBox="1"/>
          <p:nvPr/>
        </p:nvSpPr>
        <p:spPr>
          <a:xfrm>
            <a:off x="1331571" y="3111692"/>
            <a:ext cx="230479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Mean</a:t>
            </a:r>
            <a:r>
              <a:rPr lang="en-US" sz="1400" dirty="0"/>
              <a:t> (average): a calculated 'central’ value of a list of numbers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6676EA-E928-5AD0-6787-F13BC3D83ADB}"/>
              </a:ext>
            </a:extLst>
          </p:cNvPr>
          <p:cNvSpPr txBox="1"/>
          <p:nvPr/>
        </p:nvSpPr>
        <p:spPr>
          <a:xfrm>
            <a:off x="5357041" y="2560260"/>
            <a:ext cx="285132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Range</a:t>
            </a:r>
            <a:r>
              <a:rPr lang="en-US" sz="1400" dirty="0"/>
              <a:t>: the difference between two values (for example, the difference between the minimum and maximum values of the model simulation)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355C897-9B6E-958E-959D-4B904CBEBFE4}"/>
              </a:ext>
            </a:extLst>
          </p:cNvPr>
          <p:cNvCxnSpPr>
            <a:cxnSpLocks/>
          </p:cNvCxnSpPr>
          <p:nvPr/>
        </p:nvCxnSpPr>
        <p:spPr>
          <a:xfrm>
            <a:off x="5086225" y="2817684"/>
            <a:ext cx="243016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51FA0D-820B-9746-E677-B4E84C0F8175}"/>
              </a:ext>
            </a:extLst>
          </p:cNvPr>
          <p:cNvCxnSpPr>
            <a:cxnSpLocks/>
          </p:cNvCxnSpPr>
          <p:nvPr/>
        </p:nvCxnSpPr>
        <p:spPr>
          <a:xfrm>
            <a:off x="5089311" y="3379915"/>
            <a:ext cx="243016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2F14DA-88CC-FC2B-7C54-E64926851D45}"/>
              </a:ext>
            </a:extLst>
          </p:cNvPr>
          <p:cNvCxnSpPr>
            <a:cxnSpLocks/>
          </p:cNvCxnSpPr>
          <p:nvPr/>
        </p:nvCxnSpPr>
        <p:spPr>
          <a:xfrm flipV="1">
            <a:off x="5329241" y="2817684"/>
            <a:ext cx="0" cy="56223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046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screenshot, diagram, design&#10;&#10;Description automatically generated">
            <a:extLst>
              <a:ext uri="{FF2B5EF4-FFF2-40B4-BE49-F238E27FC236}">
                <a16:creationId xmlns:a16="http://schemas.microsoft.com/office/drawing/2014/main" id="{5D57C91F-18D2-F7E5-0EF6-200C83ED1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19" y="4550463"/>
            <a:ext cx="4371975" cy="30878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AA4AA2-F405-8D93-F804-3A74386A1694}"/>
              </a:ext>
            </a:extLst>
          </p:cNvPr>
          <p:cNvSpPr txBox="1"/>
          <p:nvPr/>
        </p:nvSpPr>
        <p:spPr>
          <a:xfrm>
            <a:off x="1174230" y="4678886"/>
            <a:ext cx="4004457" cy="334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88" b="1" dirty="0"/>
              <a:t>High emissions scenario</a:t>
            </a:r>
            <a:r>
              <a:rPr lang="en-US" sz="788" dirty="0"/>
              <a:t>: fossil fuel emissions continue to rise without any actions to reduce emissions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1F6A55-9EA7-9B1C-CFAC-D004E2776515}"/>
              </a:ext>
            </a:extLst>
          </p:cNvPr>
          <p:cNvSpPr txBox="1"/>
          <p:nvPr/>
        </p:nvSpPr>
        <p:spPr>
          <a:xfrm>
            <a:off x="1174230" y="4943805"/>
            <a:ext cx="4004457" cy="334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88" b="1" dirty="0"/>
              <a:t>Low emissions scenario: </a:t>
            </a:r>
            <a:r>
              <a:rPr lang="en-US" sz="788" dirty="0"/>
              <a:t>society implements ways to reduce global fossil fuel emissions by 2050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318A12-CB74-DF9F-5FD2-2FA39B77565B}"/>
              </a:ext>
            </a:extLst>
          </p:cNvPr>
          <p:cNvSpPr txBox="1"/>
          <p:nvPr/>
        </p:nvSpPr>
        <p:spPr>
          <a:xfrm>
            <a:off x="1174230" y="5102893"/>
            <a:ext cx="2206550" cy="456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88" b="1" dirty="0"/>
              <a:t>Hindcast</a:t>
            </a:r>
            <a:r>
              <a:rPr lang="en-US" sz="788" dirty="0"/>
              <a:t>: model results for a historical period that are used for comparing model estimates with observations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E138E5-651B-54F6-63F2-65A923F86FE2}"/>
              </a:ext>
            </a:extLst>
          </p:cNvPr>
          <p:cNvSpPr txBox="1"/>
          <p:nvPr/>
        </p:nvSpPr>
        <p:spPr>
          <a:xfrm>
            <a:off x="1132816" y="5776510"/>
            <a:ext cx="1688073" cy="456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b="1" dirty="0"/>
              <a:t>Observation </a:t>
            </a:r>
            <a:r>
              <a:rPr lang="en-US" sz="788" dirty="0"/>
              <a:t>(historical measurement): a measurement made to gather information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F7B3BB-D730-CC0B-2E2C-C9F748B0CDAC}"/>
              </a:ext>
            </a:extLst>
          </p:cNvPr>
          <p:cNvSpPr txBox="1"/>
          <p:nvPr/>
        </p:nvSpPr>
        <p:spPr>
          <a:xfrm>
            <a:off x="3604864" y="6169896"/>
            <a:ext cx="1296446" cy="456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88" b="1" dirty="0"/>
              <a:t>Mean</a:t>
            </a:r>
            <a:r>
              <a:rPr lang="en-US" sz="788" dirty="0"/>
              <a:t> (average): a calculated 'central’ value of a list of numbers</a:t>
            </a:r>
          </a:p>
        </p:txBody>
      </p:sp>
    </p:spTree>
    <p:extLst>
      <p:ext uri="{BB962C8B-B14F-4D97-AF65-F5344CB8AC3E}">
        <p14:creationId xmlns:p14="http://schemas.microsoft.com/office/powerpoint/2010/main" val="2564536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534FDA-1B38-293B-6180-07C9AE6F6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647" t="13459" r="38499"/>
          <a:stretch/>
        </p:blipFill>
        <p:spPr>
          <a:xfrm>
            <a:off x="1605391" y="4954629"/>
            <a:ext cx="1535014" cy="2771551"/>
          </a:xfrm>
          <a:prstGeom prst="rect">
            <a:avLst/>
          </a:prstGeom>
        </p:spPr>
      </p:pic>
      <p:pic>
        <p:nvPicPr>
          <p:cNvPr id="6" name="Picture 5" descr="A picture containing text, screenshot&#10;&#10;Description automatically generated">
            <a:extLst>
              <a:ext uri="{FF2B5EF4-FFF2-40B4-BE49-F238E27FC236}">
                <a16:creationId xmlns:a16="http://schemas.microsoft.com/office/drawing/2014/main" id="{2290C487-0B8C-E92C-81F3-036C197A53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517" t="-1" r="81593" b="73369"/>
          <a:stretch/>
        </p:blipFill>
        <p:spPr>
          <a:xfrm>
            <a:off x="750673" y="4381923"/>
            <a:ext cx="476121" cy="8223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D9F57E-9647-E1FD-7C72-C71CD9C098E0}"/>
              </a:ext>
            </a:extLst>
          </p:cNvPr>
          <p:cNvSpPr txBox="1"/>
          <p:nvPr/>
        </p:nvSpPr>
        <p:spPr>
          <a:xfrm>
            <a:off x="945074" y="5315352"/>
            <a:ext cx="743940" cy="1062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b="1" dirty="0"/>
              <a:t>Observation </a:t>
            </a:r>
            <a:r>
              <a:rPr lang="en-US" sz="788" dirty="0"/>
              <a:t>(historical measurement): a measurement made to gather information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A34D3C-7F50-672D-0776-0461578D3BFB}"/>
              </a:ext>
            </a:extLst>
          </p:cNvPr>
          <p:cNvSpPr txBox="1"/>
          <p:nvPr/>
        </p:nvSpPr>
        <p:spPr>
          <a:xfrm>
            <a:off x="1034783" y="4525520"/>
            <a:ext cx="4004457" cy="334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88" b="1" dirty="0"/>
              <a:t>High emissions scenario</a:t>
            </a:r>
            <a:r>
              <a:rPr lang="en-US" sz="788" dirty="0"/>
              <a:t>: fossil fuel emissions continue to rise without any actions to reduce emissions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F7EBAB-E734-813A-F222-7A2E016ED11C}"/>
              </a:ext>
            </a:extLst>
          </p:cNvPr>
          <p:cNvSpPr txBox="1"/>
          <p:nvPr/>
        </p:nvSpPr>
        <p:spPr>
          <a:xfrm>
            <a:off x="1034783" y="4790440"/>
            <a:ext cx="4004457" cy="334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88" b="1" dirty="0"/>
              <a:t>Low emissions scenario: </a:t>
            </a:r>
            <a:r>
              <a:rPr lang="en-US" sz="788" dirty="0"/>
              <a:t>society implements ways to reduce global fossil fuel emissions by 2050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EF6143-2590-2251-C25A-1066FC1592F8}"/>
              </a:ext>
            </a:extLst>
          </p:cNvPr>
          <p:cNvSpPr txBox="1"/>
          <p:nvPr/>
        </p:nvSpPr>
        <p:spPr>
          <a:xfrm>
            <a:off x="1034781" y="4949527"/>
            <a:ext cx="3921049" cy="334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88" b="1" dirty="0"/>
              <a:t>Hindcast</a:t>
            </a:r>
            <a:r>
              <a:rPr lang="en-US" sz="788" dirty="0"/>
              <a:t>: model results for a historical period that are used for comparing model estimates with observations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6FC2F7-9FC8-37C7-DDBC-422F8274C706}"/>
              </a:ext>
            </a:extLst>
          </p:cNvPr>
          <p:cNvSpPr txBox="1"/>
          <p:nvPr/>
        </p:nvSpPr>
        <p:spPr>
          <a:xfrm>
            <a:off x="1050313" y="6204170"/>
            <a:ext cx="546717" cy="1062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88" b="1" dirty="0"/>
              <a:t>Median</a:t>
            </a:r>
            <a:r>
              <a:rPr lang="en-US" sz="788" dirty="0"/>
              <a:t>: the middle value of a sorted list of numbers.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8637DD-4098-14C8-2759-63CCA3DDAB9E}"/>
              </a:ext>
            </a:extLst>
          </p:cNvPr>
          <p:cNvSpPr txBox="1"/>
          <p:nvPr/>
        </p:nvSpPr>
        <p:spPr>
          <a:xfrm>
            <a:off x="3232647" y="6139074"/>
            <a:ext cx="1806590" cy="698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88" b="1" dirty="0"/>
              <a:t>Range</a:t>
            </a:r>
            <a:r>
              <a:rPr lang="en-US" sz="788" dirty="0"/>
              <a:t>: the difference between two values (for example, the difference between the 25th percentile and the 75th percentile of the model simulation)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BBC964-27B5-E5B2-5902-00E81DB5FDBD}"/>
              </a:ext>
            </a:extLst>
          </p:cNvPr>
          <p:cNvCxnSpPr>
            <a:cxnSpLocks/>
          </p:cNvCxnSpPr>
          <p:nvPr/>
        </p:nvCxnSpPr>
        <p:spPr>
          <a:xfrm>
            <a:off x="3072056" y="6122215"/>
            <a:ext cx="13669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7DE1289-B45B-8FEF-0ED7-4970C873A501}"/>
              </a:ext>
            </a:extLst>
          </p:cNvPr>
          <p:cNvCxnSpPr>
            <a:cxnSpLocks/>
          </p:cNvCxnSpPr>
          <p:nvPr/>
        </p:nvCxnSpPr>
        <p:spPr>
          <a:xfrm>
            <a:off x="3073792" y="6702597"/>
            <a:ext cx="13669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316D650-8210-DDA8-42DF-8A8E3398BEB7}"/>
              </a:ext>
            </a:extLst>
          </p:cNvPr>
          <p:cNvCxnSpPr>
            <a:cxnSpLocks/>
          </p:cNvCxnSpPr>
          <p:nvPr/>
        </p:nvCxnSpPr>
        <p:spPr>
          <a:xfrm flipV="1">
            <a:off x="3208753" y="6122215"/>
            <a:ext cx="0" cy="58038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A32E25E-81DA-7476-8B6E-4107271F9F4D}"/>
              </a:ext>
            </a:extLst>
          </p:cNvPr>
          <p:cNvCxnSpPr>
            <a:cxnSpLocks/>
          </p:cNvCxnSpPr>
          <p:nvPr/>
        </p:nvCxnSpPr>
        <p:spPr>
          <a:xfrm>
            <a:off x="898084" y="6290591"/>
            <a:ext cx="136697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EF51161D-B06C-DA74-06A6-ECD0CD929C4F}"/>
              </a:ext>
            </a:extLst>
          </p:cNvPr>
          <p:cNvSpPr/>
          <p:nvPr/>
        </p:nvSpPr>
        <p:spPr>
          <a:xfrm>
            <a:off x="889688" y="5375017"/>
            <a:ext cx="50102" cy="4865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6A70C3-A36E-2A14-A227-98D5DD0B0D71}"/>
              </a:ext>
            </a:extLst>
          </p:cNvPr>
          <p:cNvSpPr txBox="1"/>
          <p:nvPr/>
        </p:nvSpPr>
        <p:spPr>
          <a:xfrm>
            <a:off x="3072057" y="5324620"/>
            <a:ext cx="2127048" cy="334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88" dirty="0"/>
              <a:t>Largest value within 75th percentile + 1.5 x Range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37D448-1FBD-4C65-3FED-CE31F843527A}"/>
              </a:ext>
            </a:extLst>
          </p:cNvPr>
          <p:cNvSpPr txBox="1"/>
          <p:nvPr/>
        </p:nvSpPr>
        <p:spPr>
          <a:xfrm>
            <a:off x="3072057" y="6983230"/>
            <a:ext cx="2180548" cy="334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88" dirty="0"/>
              <a:t>Smallest value within 25th percentile - 1.5 x Range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011ED4-1FA7-E50F-3E88-4BCAB203E9EF}"/>
              </a:ext>
            </a:extLst>
          </p:cNvPr>
          <p:cNvSpPr txBox="1"/>
          <p:nvPr/>
        </p:nvSpPr>
        <p:spPr>
          <a:xfrm rot="16200000">
            <a:off x="-63001" y="6152725"/>
            <a:ext cx="1678665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Heavy rainfall measurement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7918D3-12B5-73BF-A1AA-13BAF308E87F}"/>
              </a:ext>
            </a:extLst>
          </p:cNvPr>
          <p:cNvSpPr txBox="1"/>
          <p:nvPr/>
        </p:nvSpPr>
        <p:spPr>
          <a:xfrm>
            <a:off x="2190215" y="7559429"/>
            <a:ext cx="445956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3917759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A1288C-081C-92B6-5A49-0396932F40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270" t="13155" r="14670"/>
          <a:stretch/>
        </p:blipFill>
        <p:spPr>
          <a:xfrm>
            <a:off x="1125141" y="5306814"/>
            <a:ext cx="2507456" cy="2193131"/>
          </a:xfrm>
          <a:prstGeom prst="rect">
            <a:avLst/>
          </a:prstGeom>
        </p:spPr>
      </p:pic>
      <p:pic>
        <p:nvPicPr>
          <p:cNvPr id="4" name="Picture 3" descr="A picture containing text, screenshot&#10;&#10;Description automatically generated">
            <a:extLst>
              <a:ext uri="{FF2B5EF4-FFF2-40B4-BE49-F238E27FC236}">
                <a16:creationId xmlns:a16="http://schemas.microsoft.com/office/drawing/2014/main" id="{B610B1EB-BE9E-0C74-C368-8A434219AA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517" t="-1" r="81593" b="73369"/>
          <a:stretch/>
        </p:blipFill>
        <p:spPr>
          <a:xfrm>
            <a:off x="750673" y="4381923"/>
            <a:ext cx="476121" cy="8223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13C68B-8FA6-0944-8606-D98FBEDC8159}"/>
              </a:ext>
            </a:extLst>
          </p:cNvPr>
          <p:cNvSpPr txBox="1"/>
          <p:nvPr/>
        </p:nvSpPr>
        <p:spPr>
          <a:xfrm>
            <a:off x="1034783" y="4525520"/>
            <a:ext cx="4004457" cy="334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88" b="1" dirty="0"/>
              <a:t>High emissions scenario</a:t>
            </a:r>
            <a:r>
              <a:rPr lang="en-US" sz="788" dirty="0"/>
              <a:t>: fossil fuel emissions continue to rise without any actions to reduce emissions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FB19B4-C11C-0145-B983-0D9A293DFF81}"/>
              </a:ext>
            </a:extLst>
          </p:cNvPr>
          <p:cNvSpPr txBox="1"/>
          <p:nvPr/>
        </p:nvSpPr>
        <p:spPr>
          <a:xfrm>
            <a:off x="1034783" y="4790440"/>
            <a:ext cx="4004457" cy="334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88" b="1" dirty="0"/>
              <a:t>Low emissions scenario: </a:t>
            </a:r>
            <a:r>
              <a:rPr lang="en-US" sz="788" dirty="0"/>
              <a:t>society implements ways to reduce global fossil fuel emissions by 2050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CB3C55-8B26-AD39-7E71-0B431FB7D475}"/>
              </a:ext>
            </a:extLst>
          </p:cNvPr>
          <p:cNvSpPr txBox="1"/>
          <p:nvPr/>
        </p:nvSpPr>
        <p:spPr>
          <a:xfrm>
            <a:off x="1034781" y="4949527"/>
            <a:ext cx="3921049" cy="334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88" b="1" dirty="0"/>
              <a:t>Hindcast</a:t>
            </a:r>
            <a:r>
              <a:rPr lang="en-US" sz="788" dirty="0"/>
              <a:t>: model results for a historical period that are used for </a:t>
            </a:r>
            <a:r>
              <a:rPr lang="en-US" sz="788"/>
              <a:t>comparing model estimates with observations</a:t>
            </a:r>
            <a:endParaRPr lang="en-US" sz="788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C545B1-C0A4-871E-9956-6FA7D512936D}"/>
              </a:ext>
            </a:extLst>
          </p:cNvPr>
          <p:cNvSpPr txBox="1"/>
          <p:nvPr/>
        </p:nvSpPr>
        <p:spPr>
          <a:xfrm rot="16200000">
            <a:off x="15215" y="6124541"/>
            <a:ext cx="1678665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Heavy rainfall measurement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E2D408-03DA-9855-B741-835B9280FB9C}"/>
              </a:ext>
            </a:extLst>
          </p:cNvPr>
          <p:cNvSpPr txBox="1"/>
          <p:nvPr/>
        </p:nvSpPr>
        <p:spPr>
          <a:xfrm>
            <a:off x="2190215" y="7432604"/>
            <a:ext cx="445956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Time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47EA47-3F86-BFA2-31B6-323C56716A57}"/>
              </a:ext>
            </a:extLst>
          </p:cNvPr>
          <p:cNvSpPr txBox="1"/>
          <p:nvPr/>
        </p:nvSpPr>
        <p:spPr>
          <a:xfrm>
            <a:off x="1198610" y="5243401"/>
            <a:ext cx="1549287" cy="4560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788" b="1" dirty="0"/>
              <a:t>Observation </a:t>
            </a:r>
            <a:r>
              <a:rPr lang="en-US" sz="788" dirty="0"/>
              <a:t>(historical measurement): a measurement made to gather information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B43D3E-E266-74DC-E92B-E058B3CA75D3}"/>
              </a:ext>
            </a:extLst>
          </p:cNvPr>
          <p:cNvSpPr txBox="1"/>
          <p:nvPr/>
        </p:nvSpPr>
        <p:spPr>
          <a:xfrm>
            <a:off x="3724423" y="5694066"/>
            <a:ext cx="1603868" cy="698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88" b="1" dirty="0"/>
              <a:t>Range</a:t>
            </a:r>
            <a:r>
              <a:rPr lang="en-US" sz="788" dirty="0"/>
              <a:t>: the difference between two values (for example, the difference between the minimum and maximum values of the model simulation)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9B82F74-AC7B-F4E7-2C89-59B6805F8F52}"/>
              </a:ext>
            </a:extLst>
          </p:cNvPr>
          <p:cNvCxnSpPr>
            <a:cxnSpLocks/>
          </p:cNvCxnSpPr>
          <p:nvPr/>
        </p:nvCxnSpPr>
        <p:spPr>
          <a:xfrm>
            <a:off x="3587725" y="5365951"/>
            <a:ext cx="13669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7C68018-164A-3952-DEE6-636C08848390}"/>
              </a:ext>
            </a:extLst>
          </p:cNvPr>
          <p:cNvCxnSpPr>
            <a:cxnSpLocks/>
          </p:cNvCxnSpPr>
          <p:nvPr/>
        </p:nvCxnSpPr>
        <p:spPr>
          <a:xfrm>
            <a:off x="3582415" y="6555894"/>
            <a:ext cx="13669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A4939EC-941E-9FB7-8827-C915DFFA38E6}"/>
              </a:ext>
            </a:extLst>
          </p:cNvPr>
          <p:cNvCxnSpPr>
            <a:cxnSpLocks/>
          </p:cNvCxnSpPr>
          <p:nvPr/>
        </p:nvCxnSpPr>
        <p:spPr>
          <a:xfrm flipV="1">
            <a:off x="3715088" y="5365951"/>
            <a:ext cx="2288" cy="118994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9218C8C-C361-823A-39B1-34D94394B3CC}"/>
              </a:ext>
            </a:extLst>
          </p:cNvPr>
          <p:cNvSpPr txBox="1"/>
          <p:nvPr/>
        </p:nvSpPr>
        <p:spPr>
          <a:xfrm>
            <a:off x="3799315" y="6802165"/>
            <a:ext cx="1296446" cy="456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88" b="1" dirty="0"/>
              <a:t>Mean</a:t>
            </a:r>
            <a:r>
              <a:rPr lang="en-US" sz="788" dirty="0"/>
              <a:t> (average): a calculated 'central’ value of a list of numbers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7022A66-17D1-6BD2-6B18-AB89A4CBF0BE}"/>
              </a:ext>
            </a:extLst>
          </p:cNvPr>
          <p:cNvCxnSpPr>
            <a:cxnSpLocks/>
          </p:cNvCxnSpPr>
          <p:nvPr/>
        </p:nvCxnSpPr>
        <p:spPr>
          <a:xfrm>
            <a:off x="3632598" y="6889038"/>
            <a:ext cx="16671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4877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90</TotalTime>
  <Words>492</Words>
  <Application>Microsoft Macintosh PowerPoint</Application>
  <PresentationFormat>Custom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Ruckert, Kelsey</dc:creator>
  <cp:lastModifiedBy>Ruckert, Kelsey</cp:lastModifiedBy>
  <cp:revision>6</cp:revision>
  <dcterms:created xsi:type="dcterms:W3CDTF">2023-07-03T17:52:15Z</dcterms:created>
  <dcterms:modified xsi:type="dcterms:W3CDTF">2023-11-28T20:23:59Z</dcterms:modified>
</cp:coreProperties>
</file>