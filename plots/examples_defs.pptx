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595"/>
  </p:normalViewPr>
  <p:slideViewPr>
    <p:cSldViewPr snapToGrid="0">
      <p:cViewPr varScale="1">
        <p:scale>
          <a:sx n="102" d="100"/>
          <a:sy n="102" d="100"/>
        </p:scale>
        <p:origin x="9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9EF3E-DCDC-B186-374E-5DF56883A8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D62196-5ECF-E6D1-7512-E09275F53F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3ACADA-03A9-01D4-F35B-8CCEB2244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1374F-7C19-B447-BFA6-FB37BC7EA533}" type="datetimeFigureOut">
              <a:rPr lang="en-US" smtClean="0"/>
              <a:t>7/6/23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2E6F9-CBDB-0D7D-AFC7-DC99D2E5E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5E2EDE-B944-3D18-F1D8-BFCCC53EC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0753D-D9DA-E440-8F9E-0ABE70C69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695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B9076-FB03-4870-5794-E73BF2522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BC530-D91B-30ED-5294-2AE6282F0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A2E4DD-66C8-4D7C-EB61-4301FCDAB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1374F-7C19-B447-BFA6-FB37BC7EA533}" type="datetimeFigureOut">
              <a:rPr lang="en-US" smtClean="0"/>
              <a:t>7/6/23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3E9C4-995F-7C95-ACD5-6D7EF0E63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6BE6D-1736-8E90-A918-F07CBA50C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0753D-D9DA-E440-8F9E-0ABE70C69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296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E6AAF-0E3B-0040-D54C-F87FCE444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2682F0-2EC7-6600-9EE3-FDD46A060E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9A0F7-4D76-B4FC-B644-2B77B5AC3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1374F-7C19-B447-BFA6-FB37BC7EA533}" type="datetimeFigureOut">
              <a:rPr lang="en-US" smtClean="0"/>
              <a:t>7/6/23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D5485-9362-CFFB-429F-DB37C02BE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DD515C-C213-584C-3611-22A270214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0753D-D9DA-E440-8F9E-0ABE70C69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854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4173C-1A85-4388-CBEB-E96DF2B73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A7C5E-C910-E6EF-BE81-836B70FE97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B19005-637A-7FAF-8E10-4C25DCCD75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219F44-C071-1184-4ED5-C476FAA07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1374F-7C19-B447-BFA6-FB37BC7EA533}" type="datetimeFigureOut">
              <a:rPr lang="en-US" smtClean="0"/>
              <a:t>7/6/23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CCB79E-357C-BEC9-2F3D-22F9685A3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C8B535-A6E9-5E98-9396-F9FFFC7B6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0753D-D9DA-E440-8F9E-0ABE70C69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382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E0EBA-E1D8-1FD7-8B28-E588B89F4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269176-F7A2-3026-ACB8-E30B32459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825A34-30CE-FAC6-508B-09F5E3AA52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4DB028-BE64-A0E2-1E9A-0220836CBF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A258C9-16BF-150C-58E6-1A0A4A47EB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C8AAD0-074D-CC83-AA07-BF310A0DE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1374F-7C19-B447-BFA6-FB37BC7EA533}" type="datetimeFigureOut">
              <a:rPr lang="en-US" smtClean="0"/>
              <a:t>7/6/23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7082E9-1770-035F-3638-A5657245B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A72FFF-8130-7123-BCB8-A7D26B989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0753D-D9DA-E440-8F9E-0ABE70C69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527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F2CBD-C6D3-CC2D-A94E-E3327AB6F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841CBC-378F-AF14-D87D-9A19C4561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1374F-7C19-B447-BFA6-FB37BC7EA533}" type="datetimeFigureOut">
              <a:rPr lang="en-US" smtClean="0"/>
              <a:t>7/6/23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A5B4D2-E410-44DD-662D-52A4AB4DB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D80B99-F588-8D6E-843B-077550EE8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0753D-D9DA-E440-8F9E-0ABE70C69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619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3F9096-A600-E3A1-A778-0DDE2244D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1374F-7C19-B447-BFA6-FB37BC7EA533}" type="datetimeFigureOut">
              <a:rPr lang="en-US" smtClean="0"/>
              <a:t>7/6/23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1BE8D5-ABB8-D4C8-19A2-F94F59250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79F17-12D6-EE11-DD7C-4FD3BCE9B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0753D-D9DA-E440-8F9E-0ABE70C69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481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5CF5B-3595-D7DC-E6E1-B766D9A88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551F1-1271-87CF-03E8-B27BDAD78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58F93E-4670-10A1-4BF2-4C8F002A7F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5FC7EB-8922-36C7-668F-F0A853BB6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1374F-7C19-B447-BFA6-FB37BC7EA533}" type="datetimeFigureOut">
              <a:rPr lang="en-US" smtClean="0"/>
              <a:t>7/6/23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C54A48-4BF8-09D1-23F3-D8329A1DC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1A6A72-6D2C-BB69-621A-7E5E2349B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0753D-D9DA-E440-8F9E-0ABE70C69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268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B03D8-9517-0AC0-88C9-75C3636EA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C3885D-8BE1-9F15-00A7-09891CB37C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095D81-4ADE-1D6F-6FED-C0C4DFBD30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4B1F21-1977-C6CC-75F5-6B04E7466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1374F-7C19-B447-BFA6-FB37BC7EA533}" type="datetimeFigureOut">
              <a:rPr lang="en-US" smtClean="0"/>
              <a:t>7/6/23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E7EB3-F856-89BD-99C5-E01A0BF3F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AA2C67-C936-ED8E-AE89-06AD4FD42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0753D-D9DA-E440-8F9E-0ABE70C69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424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9309E-C1F8-D1BF-881A-7AA416330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390D49-9FBE-4E1C-9A85-CB4A819CC9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FFE72-5F84-DDDA-3DD1-F25A9BA0A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1374F-7C19-B447-BFA6-FB37BC7EA533}" type="datetimeFigureOut">
              <a:rPr lang="en-US" smtClean="0"/>
              <a:t>7/6/23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DA4BE-DD0A-2879-C83C-11A34D76C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21B93-C537-B0D8-9B43-EDDCDF52E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0753D-D9DA-E440-8F9E-0ABE70C69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683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AF61E2-CD0C-36CE-7417-D10EB5205C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DAEE6A-74CC-1F52-002B-03851E3C15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54E26-B263-57A2-ED17-2EADAE0E6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1374F-7C19-B447-BFA6-FB37BC7EA533}" type="datetimeFigureOut">
              <a:rPr lang="en-US" smtClean="0"/>
              <a:t>7/6/23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B7FE3-E1A6-FF03-9839-66A315FD5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4792D-2DED-A1AF-288E-4F6CAC97E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0753D-D9DA-E440-8F9E-0ABE70C69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105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BDF935-3B16-3270-F273-F0AC376DE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F143C8-B23B-8C25-D4E0-30771BFAF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36DF5-D510-3851-2DA7-A52117C886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51374F-7C19-B447-BFA6-FB37BC7EA533}" type="datetimeFigureOut">
              <a:rPr lang="en-US" smtClean="0"/>
              <a:t>7/6/23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381B2-29CB-ED0F-6BDC-DFEC84822D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5912D9-0098-35F9-5F0C-DC8AA95E0A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90753D-D9DA-E440-8F9E-0ABE70C69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971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screenshot&#10;&#10;Description automatically generated">
            <a:extLst>
              <a:ext uri="{FF2B5EF4-FFF2-40B4-BE49-F238E27FC236}">
                <a16:creationId xmlns:a16="http://schemas.microsoft.com/office/drawing/2014/main" id="{AE6CC2C4-1007-011F-8C0F-86B545545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917" y="885825"/>
            <a:ext cx="7772400" cy="54895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75D54D-51EC-2306-4A64-1B254507654C}"/>
              </a:ext>
            </a:extLst>
          </p:cNvPr>
          <p:cNvSpPr txBox="1"/>
          <p:nvPr/>
        </p:nvSpPr>
        <p:spPr>
          <a:xfrm>
            <a:off x="5222274" y="5009121"/>
            <a:ext cx="40700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Observation </a:t>
            </a:r>
            <a:r>
              <a:rPr lang="en-US" sz="1400" dirty="0"/>
              <a:t>(historical measurement): a measurement made to gather information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7D43B9-E9AA-C8D0-CCA2-A1EC9D45D8BA}"/>
              </a:ext>
            </a:extLst>
          </p:cNvPr>
          <p:cNvSpPr txBox="1"/>
          <p:nvPr/>
        </p:nvSpPr>
        <p:spPr>
          <a:xfrm>
            <a:off x="2173246" y="1141109"/>
            <a:ext cx="71190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High emissions scenario</a:t>
            </a:r>
            <a:r>
              <a:rPr lang="en-US" sz="1400" dirty="0"/>
              <a:t>: fossil fuel emissions continue to rise without any actions to reduce emissions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38C37C-287C-E23D-C154-41B3B096C402}"/>
              </a:ext>
            </a:extLst>
          </p:cNvPr>
          <p:cNvSpPr txBox="1"/>
          <p:nvPr/>
        </p:nvSpPr>
        <p:spPr>
          <a:xfrm>
            <a:off x="2173245" y="1612077"/>
            <a:ext cx="71190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Low emissions scenario: </a:t>
            </a:r>
            <a:r>
              <a:rPr lang="en-US" sz="1400" dirty="0"/>
              <a:t>society implements ways to reduce global fossil fuel emissions by 2050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6AF843-5B7E-CB4D-3BCB-5BB640B0AE23}"/>
              </a:ext>
            </a:extLst>
          </p:cNvPr>
          <p:cNvSpPr txBox="1"/>
          <p:nvPr/>
        </p:nvSpPr>
        <p:spPr>
          <a:xfrm>
            <a:off x="2173244" y="1894899"/>
            <a:ext cx="392275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Hindcast</a:t>
            </a:r>
            <a:r>
              <a:rPr lang="en-US" sz="1400" dirty="0"/>
              <a:t>: model results for a historical period that are used for comparing model estimates with observations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85E9C8-4983-512D-3420-D7CDCDAE3E6B}"/>
              </a:ext>
            </a:extLst>
          </p:cNvPr>
          <p:cNvSpPr txBox="1"/>
          <p:nvPr/>
        </p:nvSpPr>
        <p:spPr>
          <a:xfrm>
            <a:off x="2415488" y="3098992"/>
            <a:ext cx="230479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Mean</a:t>
            </a:r>
            <a:r>
              <a:rPr lang="en-US" sz="1400" dirty="0"/>
              <a:t> (average): a calculated 'central’ value of a list of numbers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9D9C27-951E-70EE-470A-C49BFF16A6DE}"/>
              </a:ext>
            </a:extLst>
          </p:cNvPr>
          <p:cNvSpPr txBox="1"/>
          <p:nvPr/>
        </p:nvSpPr>
        <p:spPr>
          <a:xfrm>
            <a:off x="6440958" y="2547560"/>
            <a:ext cx="285132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Range</a:t>
            </a:r>
            <a:r>
              <a:rPr lang="en-US" sz="1400" dirty="0"/>
              <a:t>: the difference between two values (for example, the difference between the minimum and maximum values of the model simulation)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6FC94EA-1BFD-58D3-4DBC-7362FEDC719D}"/>
              </a:ext>
            </a:extLst>
          </p:cNvPr>
          <p:cNvCxnSpPr>
            <a:cxnSpLocks/>
          </p:cNvCxnSpPr>
          <p:nvPr/>
        </p:nvCxnSpPr>
        <p:spPr>
          <a:xfrm>
            <a:off x="6170142" y="2804984"/>
            <a:ext cx="243016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B52521F-E7DA-A4AD-2137-987B2C1A221A}"/>
              </a:ext>
            </a:extLst>
          </p:cNvPr>
          <p:cNvCxnSpPr>
            <a:cxnSpLocks/>
          </p:cNvCxnSpPr>
          <p:nvPr/>
        </p:nvCxnSpPr>
        <p:spPr>
          <a:xfrm>
            <a:off x="6173228" y="3367215"/>
            <a:ext cx="243016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84BE6ED-BACE-F3B2-C5A0-28E763C5650B}"/>
              </a:ext>
            </a:extLst>
          </p:cNvPr>
          <p:cNvCxnSpPr>
            <a:cxnSpLocks/>
          </p:cNvCxnSpPr>
          <p:nvPr/>
        </p:nvCxnSpPr>
        <p:spPr>
          <a:xfrm flipV="1">
            <a:off x="6413158" y="2804984"/>
            <a:ext cx="0" cy="56223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9201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screenshot, diagram, design&#10;&#10;Description automatically generated">
            <a:extLst>
              <a:ext uri="{FF2B5EF4-FFF2-40B4-BE49-F238E27FC236}">
                <a16:creationId xmlns:a16="http://schemas.microsoft.com/office/drawing/2014/main" id="{5D57C91F-18D2-F7E5-0EF6-200C83ED1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479" y="684202"/>
            <a:ext cx="7772400" cy="54895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8AA4AA2-F405-8D93-F804-3A74386A1694}"/>
              </a:ext>
            </a:extLst>
          </p:cNvPr>
          <p:cNvSpPr txBox="1"/>
          <p:nvPr/>
        </p:nvSpPr>
        <p:spPr>
          <a:xfrm>
            <a:off x="2087521" y="912509"/>
            <a:ext cx="71190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High emissions scenario</a:t>
            </a:r>
            <a:r>
              <a:rPr lang="en-US" sz="1400" dirty="0"/>
              <a:t>: fossil fuel emissions continue to rise without any actions to reduce emissions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1F6A55-9EA7-9B1C-CFAC-D004E2776515}"/>
              </a:ext>
            </a:extLst>
          </p:cNvPr>
          <p:cNvSpPr txBox="1"/>
          <p:nvPr/>
        </p:nvSpPr>
        <p:spPr>
          <a:xfrm>
            <a:off x="2087520" y="1383477"/>
            <a:ext cx="71190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Low emissions scenario: </a:t>
            </a:r>
            <a:r>
              <a:rPr lang="en-US" sz="1400" dirty="0"/>
              <a:t>society implements ways to reduce global fossil fuel emissions by 2050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318A12-CB74-DF9F-5FD2-2FA39B77565B}"/>
              </a:ext>
            </a:extLst>
          </p:cNvPr>
          <p:cNvSpPr txBox="1"/>
          <p:nvPr/>
        </p:nvSpPr>
        <p:spPr>
          <a:xfrm>
            <a:off x="2087519" y="1666299"/>
            <a:ext cx="392275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Hindcast</a:t>
            </a:r>
            <a:r>
              <a:rPr lang="en-US" sz="1400" dirty="0"/>
              <a:t>: model results for a historical period that are used for comparing model estimates with observations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E138E5-651B-54F6-63F2-65A923F86FE2}"/>
              </a:ext>
            </a:extLst>
          </p:cNvPr>
          <p:cNvSpPr txBox="1"/>
          <p:nvPr/>
        </p:nvSpPr>
        <p:spPr>
          <a:xfrm>
            <a:off x="2013894" y="2863840"/>
            <a:ext cx="300101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Observation </a:t>
            </a:r>
            <a:r>
              <a:rPr lang="en-US" sz="1400" dirty="0"/>
              <a:t>(historical measurement): a measurement made to gather information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F7B3BB-D730-CC0B-2E2C-C9F748B0CDAC}"/>
              </a:ext>
            </a:extLst>
          </p:cNvPr>
          <p:cNvSpPr txBox="1"/>
          <p:nvPr/>
        </p:nvSpPr>
        <p:spPr>
          <a:xfrm>
            <a:off x="6408646" y="3563194"/>
            <a:ext cx="230479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Mean</a:t>
            </a:r>
            <a:r>
              <a:rPr lang="en-US" sz="1400" dirty="0"/>
              <a:t> (average): a calculated 'central’ value of a list of numbers</a:t>
            </a:r>
          </a:p>
        </p:txBody>
      </p:sp>
    </p:spTree>
    <p:extLst>
      <p:ext uri="{BB962C8B-B14F-4D97-AF65-F5344CB8AC3E}">
        <p14:creationId xmlns:p14="http://schemas.microsoft.com/office/powerpoint/2010/main" val="2564536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534FDA-1B38-293B-6180-07C9AE6F6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647" t="13459" r="38499"/>
          <a:stretch/>
        </p:blipFill>
        <p:spPr>
          <a:xfrm>
            <a:off x="2854029" y="1402719"/>
            <a:ext cx="2728913" cy="4927202"/>
          </a:xfrm>
          <a:prstGeom prst="rect">
            <a:avLst/>
          </a:prstGeom>
        </p:spPr>
      </p:pic>
      <p:pic>
        <p:nvPicPr>
          <p:cNvPr id="6" name="Picture 5" descr="A picture containing text, screenshot&#10;&#10;Description automatically generated">
            <a:extLst>
              <a:ext uri="{FF2B5EF4-FFF2-40B4-BE49-F238E27FC236}">
                <a16:creationId xmlns:a16="http://schemas.microsoft.com/office/drawing/2014/main" id="{2290C487-0B8C-E92C-81F3-036C197A53C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517" t="-1" r="81593" b="73369"/>
          <a:stretch/>
        </p:blipFill>
        <p:spPr>
          <a:xfrm>
            <a:off x="1334530" y="384575"/>
            <a:ext cx="846438" cy="14619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BD9F57E-9647-E1FD-7C72-C71CD9C098E0}"/>
              </a:ext>
            </a:extLst>
          </p:cNvPr>
          <p:cNvSpPr txBox="1"/>
          <p:nvPr/>
        </p:nvSpPr>
        <p:spPr>
          <a:xfrm>
            <a:off x="1680132" y="2044005"/>
            <a:ext cx="13225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Observation </a:t>
            </a:r>
            <a:r>
              <a:rPr lang="en-US" sz="1400" dirty="0"/>
              <a:t>(historical measurement): a measurement made to gather information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A34D3C-7F50-672D-0776-0461578D3BFB}"/>
              </a:ext>
            </a:extLst>
          </p:cNvPr>
          <p:cNvSpPr txBox="1"/>
          <p:nvPr/>
        </p:nvSpPr>
        <p:spPr>
          <a:xfrm>
            <a:off x="1839614" y="639859"/>
            <a:ext cx="71190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High emissions scenario</a:t>
            </a:r>
            <a:r>
              <a:rPr lang="en-US" sz="1400" dirty="0"/>
              <a:t>: fossil fuel emissions continue to rise without any actions to reduce emissions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F7EBAB-E734-813A-F222-7A2E016ED11C}"/>
              </a:ext>
            </a:extLst>
          </p:cNvPr>
          <p:cNvSpPr txBox="1"/>
          <p:nvPr/>
        </p:nvSpPr>
        <p:spPr>
          <a:xfrm>
            <a:off x="1839613" y="1110827"/>
            <a:ext cx="71190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Low emissions scenario: </a:t>
            </a:r>
            <a:r>
              <a:rPr lang="en-US" sz="1400" dirty="0"/>
              <a:t>society implements ways to reduce global fossil fuel emissions by 2050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EF6143-2590-2251-C25A-1066FC1592F8}"/>
              </a:ext>
            </a:extLst>
          </p:cNvPr>
          <p:cNvSpPr txBox="1"/>
          <p:nvPr/>
        </p:nvSpPr>
        <p:spPr>
          <a:xfrm>
            <a:off x="1839611" y="1393649"/>
            <a:ext cx="69707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Hindcast</a:t>
            </a:r>
            <a:r>
              <a:rPr lang="en-US" sz="1400" dirty="0"/>
              <a:t>: model results for a historical period that are used for comparing model estimates with observations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6FC2F7-9FC8-37C7-DDBC-422F8274C706}"/>
              </a:ext>
            </a:extLst>
          </p:cNvPr>
          <p:cNvSpPr txBox="1"/>
          <p:nvPr/>
        </p:nvSpPr>
        <p:spPr>
          <a:xfrm>
            <a:off x="1867222" y="3624126"/>
            <a:ext cx="97194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Median</a:t>
            </a:r>
            <a:r>
              <a:rPr lang="en-US" sz="1400" dirty="0"/>
              <a:t>: the middle value of a sorted list of numbers.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8637DD-4098-14C8-2759-63CCA3DDAB9E}"/>
              </a:ext>
            </a:extLst>
          </p:cNvPr>
          <p:cNvSpPr txBox="1"/>
          <p:nvPr/>
        </p:nvSpPr>
        <p:spPr>
          <a:xfrm>
            <a:off x="5746928" y="3508399"/>
            <a:ext cx="321171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Range</a:t>
            </a:r>
            <a:r>
              <a:rPr lang="en-US" sz="1400" dirty="0"/>
              <a:t>: the difference between two values (for example, the difference between the 25th percentile and the 75th percentile of the model simulation)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BBC964-27B5-E5B2-5902-00E81DB5FDBD}"/>
              </a:ext>
            </a:extLst>
          </p:cNvPr>
          <p:cNvCxnSpPr>
            <a:cxnSpLocks/>
          </p:cNvCxnSpPr>
          <p:nvPr/>
        </p:nvCxnSpPr>
        <p:spPr>
          <a:xfrm>
            <a:off x="5461434" y="3478428"/>
            <a:ext cx="243016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7DE1289-B45B-8FEF-0ED7-4970C873A501}"/>
              </a:ext>
            </a:extLst>
          </p:cNvPr>
          <p:cNvCxnSpPr>
            <a:cxnSpLocks/>
          </p:cNvCxnSpPr>
          <p:nvPr/>
        </p:nvCxnSpPr>
        <p:spPr>
          <a:xfrm>
            <a:off x="5464520" y="4510218"/>
            <a:ext cx="243016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316D650-8210-DDA8-42DF-8A8E3398BEB7}"/>
              </a:ext>
            </a:extLst>
          </p:cNvPr>
          <p:cNvCxnSpPr>
            <a:cxnSpLocks/>
          </p:cNvCxnSpPr>
          <p:nvPr/>
        </p:nvCxnSpPr>
        <p:spPr>
          <a:xfrm flipV="1">
            <a:off x="5704450" y="3478428"/>
            <a:ext cx="0" cy="103179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A32E25E-81DA-7476-8B6E-4107271F9F4D}"/>
              </a:ext>
            </a:extLst>
          </p:cNvPr>
          <p:cNvCxnSpPr>
            <a:cxnSpLocks/>
          </p:cNvCxnSpPr>
          <p:nvPr/>
        </p:nvCxnSpPr>
        <p:spPr>
          <a:xfrm>
            <a:off x="1596595" y="3777763"/>
            <a:ext cx="243016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EF51161D-B06C-DA74-06A6-ECD0CD929C4F}"/>
              </a:ext>
            </a:extLst>
          </p:cNvPr>
          <p:cNvSpPr/>
          <p:nvPr/>
        </p:nvSpPr>
        <p:spPr>
          <a:xfrm>
            <a:off x="1581666" y="2150076"/>
            <a:ext cx="89071" cy="8649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96A70C3-A36E-2A14-A227-98D5DD0B0D71}"/>
              </a:ext>
            </a:extLst>
          </p:cNvPr>
          <p:cNvSpPr txBox="1"/>
          <p:nvPr/>
        </p:nvSpPr>
        <p:spPr>
          <a:xfrm>
            <a:off x="5461434" y="2060480"/>
            <a:ext cx="37814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Largest value within 75th percentile + 1.5 x Range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037D448-1FBD-4C65-3FED-CE31F843527A}"/>
              </a:ext>
            </a:extLst>
          </p:cNvPr>
          <p:cNvSpPr txBox="1"/>
          <p:nvPr/>
        </p:nvSpPr>
        <p:spPr>
          <a:xfrm>
            <a:off x="5461434" y="5009121"/>
            <a:ext cx="38765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Smallest value within 25th percentile - 1.5 x Range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E011ED4-1FA7-E50F-3E88-4BCAB203E9EF}"/>
              </a:ext>
            </a:extLst>
          </p:cNvPr>
          <p:cNvSpPr txBox="1"/>
          <p:nvPr/>
        </p:nvSpPr>
        <p:spPr>
          <a:xfrm rot="16200000">
            <a:off x="-29569" y="3568630"/>
            <a:ext cx="2819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Heavy rainfall measurement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E7918D3-12B5-73BF-A1AA-13BAF308E87F}"/>
              </a:ext>
            </a:extLst>
          </p:cNvPr>
          <p:cNvSpPr txBox="1"/>
          <p:nvPr/>
        </p:nvSpPr>
        <p:spPr>
          <a:xfrm>
            <a:off x="3893716" y="6033475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3917759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A1288C-081C-92B6-5A49-0396932F40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270" t="13155" r="14670"/>
          <a:stretch/>
        </p:blipFill>
        <p:spPr>
          <a:xfrm>
            <a:off x="2000250" y="2028825"/>
            <a:ext cx="4457700" cy="3898900"/>
          </a:xfrm>
          <a:prstGeom prst="rect">
            <a:avLst/>
          </a:prstGeom>
        </p:spPr>
      </p:pic>
      <p:pic>
        <p:nvPicPr>
          <p:cNvPr id="4" name="Picture 3" descr="A picture containing text, screenshot&#10;&#10;Description automatically generated">
            <a:extLst>
              <a:ext uri="{FF2B5EF4-FFF2-40B4-BE49-F238E27FC236}">
                <a16:creationId xmlns:a16="http://schemas.microsoft.com/office/drawing/2014/main" id="{B610B1EB-BE9E-0C74-C368-8A434219AA2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517" t="-1" r="81593" b="73369"/>
          <a:stretch/>
        </p:blipFill>
        <p:spPr>
          <a:xfrm>
            <a:off x="1334530" y="384575"/>
            <a:ext cx="846438" cy="14619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A13C68B-8FA6-0944-8606-D98FBEDC8159}"/>
              </a:ext>
            </a:extLst>
          </p:cNvPr>
          <p:cNvSpPr txBox="1"/>
          <p:nvPr/>
        </p:nvSpPr>
        <p:spPr>
          <a:xfrm>
            <a:off x="1839614" y="639859"/>
            <a:ext cx="71190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High emissions scenario</a:t>
            </a:r>
            <a:r>
              <a:rPr lang="en-US" sz="1400" dirty="0"/>
              <a:t>: fossil fuel emissions continue to rise without any actions to reduce emissions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FB19B4-C11C-0145-B983-0D9A293DFF81}"/>
              </a:ext>
            </a:extLst>
          </p:cNvPr>
          <p:cNvSpPr txBox="1"/>
          <p:nvPr/>
        </p:nvSpPr>
        <p:spPr>
          <a:xfrm>
            <a:off x="1839613" y="1110827"/>
            <a:ext cx="71190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Low emissions scenario: </a:t>
            </a:r>
            <a:r>
              <a:rPr lang="en-US" sz="1400" dirty="0"/>
              <a:t>society implements ways to reduce global fossil fuel emissions by 2050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CB3C55-8B26-AD39-7E71-0B431FB7D475}"/>
              </a:ext>
            </a:extLst>
          </p:cNvPr>
          <p:cNvSpPr txBox="1"/>
          <p:nvPr/>
        </p:nvSpPr>
        <p:spPr>
          <a:xfrm>
            <a:off x="1839611" y="1393649"/>
            <a:ext cx="69707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Hindcast</a:t>
            </a:r>
            <a:r>
              <a:rPr lang="en-US" sz="1400" dirty="0"/>
              <a:t>: model results for a historical period that are used for </a:t>
            </a:r>
            <a:r>
              <a:rPr lang="en-US" sz="1400"/>
              <a:t>comparing model estimates with observations</a:t>
            </a:r>
            <a:endParaRPr 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C545B1-C0A4-871E-9956-6FA7D512936D}"/>
              </a:ext>
            </a:extLst>
          </p:cNvPr>
          <p:cNvSpPr txBox="1"/>
          <p:nvPr/>
        </p:nvSpPr>
        <p:spPr>
          <a:xfrm rot="16200000">
            <a:off x="109483" y="3518526"/>
            <a:ext cx="2819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Heavy rainfall measurement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E2D408-03DA-9855-B741-835B9280FB9C}"/>
              </a:ext>
            </a:extLst>
          </p:cNvPr>
          <p:cNvSpPr txBox="1"/>
          <p:nvPr/>
        </p:nvSpPr>
        <p:spPr>
          <a:xfrm>
            <a:off x="3893716" y="5808007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47EA47-3F86-BFA2-31B6-323C56716A57}"/>
              </a:ext>
            </a:extLst>
          </p:cNvPr>
          <p:cNvSpPr txBox="1"/>
          <p:nvPr/>
        </p:nvSpPr>
        <p:spPr>
          <a:xfrm>
            <a:off x="2130863" y="1916091"/>
            <a:ext cx="2754288" cy="7386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b="1" dirty="0"/>
              <a:t>Observation </a:t>
            </a:r>
            <a:r>
              <a:rPr lang="en-US" sz="1400" dirty="0"/>
              <a:t>(historical measurement): a measurement made to gather information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B43D3E-E266-74DC-E92B-E058B3CA75D3}"/>
              </a:ext>
            </a:extLst>
          </p:cNvPr>
          <p:cNvSpPr txBox="1"/>
          <p:nvPr/>
        </p:nvSpPr>
        <p:spPr>
          <a:xfrm>
            <a:off x="6621194" y="2717273"/>
            <a:ext cx="285132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Range</a:t>
            </a:r>
            <a:r>
              <a:rPr lang="en-US" sz="1400" dirty="0"/>
              <a:t>: the difference between two values (for example, the difference between the minimum and maximum values of the model simulation)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9B82F74-AC7B-F4E7-2C89-59B6805F8F52}"/>
              </a:ext>
            </a:extLst>
          </p:cNvPr>
          <p:cNvCxnSpPr>
            <a:cxnSpLocks/>
          </p:cNvCxnSpPr>
          <p:nvPr/>
        </p:nvCxnSpPr>
        <p:spPr>
          <a:xfrm>
            <a:off x="6378178" y="2133958"/>
            <a:ext cx="243016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7C68018-164A-3952-DEE6-636C08848390}"/>
              </a:ext>
            </a:extLst>
          </p:cNvPr>
          <p:cNvCxnSpPr>
            <a:cxnSpLocks/>
          </p:cNvCxnSpPr>
          <p:nvPr/>
        </p:nvCxnSpPr>
        <p:spPr>
          <a:xfrm>
            <a:off x="6368738" y="4249413"/>
            <a:ext cx="243016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A4939EC-941E-9FB7-8827-C915DFFA38E6}"/>
              </a:ext>
            </a:extLst>
          </p:cNvPr>
          <p:cNvCxnSpPr>
            <a:cxnSpLocks/>
          </p:cNvCxnSpPr>
          <p:nvPr/>
        </p:nvCxnSpPr>
        <p:spPr>
          <a:xfrm flipV="1">
            <a:off x="6604600" y="2133958"/>
            <a:ext cx="4068" cy="211545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9218C8C-C361-823A-39B1-34D94394B3CC}"/>
              </a:ext>
            </a:extLst>
          </p:cNvPr>
          <p:cNvSpPr txBox="1"/>
          <p:nvPr/>
        </p:nvSpPr>
        <p:spPr>
          <a:xfrm>
            <a:off x="6754337" y="4687228"/>
            <a:ext cx="230479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Mean</a:t>
            </a:r>
            <a:r>
              <a:rPr lang="en-US" sz="1400" dirty="0"/>
              <a:t> (average): a calculated 'central’ value of a list of numbers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7022A66-17D1-6BD2-6B18-AB89A4CBF0BE}"/>
              </a:ext>
            </a:extLst>
          </p:cNvPr>
          <p:cNvCxnSpPr>
            <a:cxnSpLocks/>
          </p:cNvCxnSpPr>
          <p:nvPr/>
        </p:nvCxnSpPr>
        <p:spPr>
          <a:xfrm>
            <a:off x="6457950" y="4841668"/>
            <a:ext cx="296387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4877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390</Words>
  <Application>Microsoft Macintosh PowerPoint</Application>
  <PresentationFormat>Widescreen</PresentationFormat>
  <Paragraphs>29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Ruckert, Kelsey</dc:creator>
  <cp:lastModifiedBy>Ruckert, Kelsey</cp:lastModifiedBy>
  <cp:revision>4</cp:revision>
  <dcterms:created xsi:type="dcterms:W3CDTF">2023-07-03T17:52:15Z</dcterms:created>
  <dcterms:modified xsi:type="dcterms:W3CDTF">2023-07-06T16:39:40Z</dcterms:modified>
</cp:coreProperties>
</file>